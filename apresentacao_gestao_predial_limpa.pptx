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2" r:id="rId10"/>
    <p:sldId id="264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2A4E1B-556E-4F4D-BA73-5954E8FF41F7}" v="2" dt="2026-05-22T03:51:01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lenz costa lima" userId="8f48c4a285857c93" providerId="LiveId" clId="{0D06FCC6-59CB-40E4-869B-20900BC0A48A}"/>
    <pc:docChg chg="modSld sldOrd">
      <pc:chgData name="daniel lenz costa lima" userId="8f48c4a285857c93" providerId="LiveId" clId="{0D06FCC6-59CB-40E4-869B-20900BC0A48A}" dt="2026-05-22T03:52:17.330" v="14"/>
      <pc:docMkLst>
        <pc:docMk/>
      </pc:docMkLst>
      <pc:sldChg chg="modSp mod">
        <pc:chgData name="daniel lenz costa lima" userId="8f48c4a285857c93" providerId="LiveId" clId="{0D06FCC6-59CB-40E4-869B-20900BC0A48A}" dt="2026-05-22T03:50:25.431" v="5" actId="20577"/>
        <pc:sldMkLst>
          <pc:docMk/>
          <pc:sldMk cId="0" sldId="256"/>
        </pc:sldMkLst>
        <pc:spChg chg="mod">
          <ac:chgData name="daniel lenz costa lima" userId="8f48c4a285857c93" providerId="LiveId" clId="{0D06FCC6-59CB-40E4-869B-20900BC0A48A}" dt="2026-05-22T03:50:25.431" v="5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daniel lenz costa lima" userId="8f48c4a285857c93" providerId="LiveId" clId="{0D06FCC6-59CB-40E4-869B-20900BC0A48A}" dt="2026-05-22T03:51:01.661" v="8"/>
        <pc:sldMkLst>
          <pc:docMk/>
          <pc:sldMk cId="0" sldId="259"/>
        </pc:sldMkLst>
        <pc:spChg chg="mod">
          <ac:chgData name="daniel lenz costa lima" userId="8f48c4a285857c93" providerId="LiveId" clId="{0D06FCC6-59CB-40E4-869B-20900BC0A48A}" dt="2026-05-22T03:51:01.661" v="8"/>
          <ac:spMkLst>
            <pc:docMk/>
            <pc:sldMk cId="0" sldId="259"/>
            <ac:spMk id="5" creationId="{00000000-0000-0000-0000-000000000000}"/>
          </ac:spMkLst>
        </pc:spChg>
      </pc:sldChg>
      <pc:sldChg chg="ord">
        <pc:chgData name="daniel lenz costa lima" userId="8f48c4a285857c93" providerId="LiveId" clId="{0D06FCC6-59CB-40E4-869B-20900BC0A48A}" dt="2026-05-22T03:52:17.330" v="14"/>
        <pc:sldMkLst>
          <pc:docMk/>
          <pc:sldMk cId="0" sldId="262"/>
        </pc:sldMkLst>
      </pc:sldChg>
      <pc:sldChg chg="ord">
        <pc:chgData name="daniel lenz costa lima" userId="8f48c4a285857c93" providerId="LiveId" clId="{0D06FCC6-59CB-40E4-869B-20900BC0A48A}" dt="2026-05-22T03:52:14.149" v="12"/>
        <pc:sldMkLst>
          <pc:docMk/>
          <pc:sldMk cId="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Infraestrutura operacional do ciclo de vida do edifício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5545429" cy="33239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• </a:t>
            </a:r>
            <a:r>
              <a:rPr dirty="0" err="1"/>
              <a:t>Gestão</a:t>
            </a:r>
            <a:r>
              <a:rPr dirty="0"/>
              <a:t> </a:t>
            </a:r>
            <a:r>
              <a:rPr dirty="0" err="1"/>
              <a:t>integrada</a:t>
            </a:r>
            <a:r>
              <a:rPr dirty="0"/>
              <a:t> da </a:t>
            </a:r>
            <a:r>
              <a:rPr dirty="0" err="1"/>
              <a:t>manutenção</a:t>
            </a:r>
            <a:r>
              <a:rPr dirty="0"/>
              <a:t> predial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Planejamento</a:t>
            </a:r>
            <a:r>
              <a:rPr dirty="0"/>
              <a:t> CAPEX e </a:t>
            </a:r>
            <a:r>
              <a:rPr dirty="0" err="1"/>
              <a:t>provisão</a:t>
            </a:r>
            <a:r>
              <a:rPr dirty="0"/>
              <a:t> </a:t>
            </a:r>
            <a:r>
              <a:rPr dirty="0" err="1"/>
              <a:t>financeira</a:t>
            </a:r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histórica</a:t>
            </a:r>
            <a:r>
              <a:rPr dirty="0"/>
              <a:t> do </a:t>
            </a:r>
            <a:r>
              <a:rPr dirty="0" err="1"/>
              <a:t>edifício</a:t>
            </a:r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Representação</a:t>
            </a:r>
            <a:r>
              <a:rPr dirty="0"/>
              <a:t> </a:t>
            </a:r>
            <a:r>
              <a:rPr dirty="0" err="1"/>
              <a:t>espacial</a:t>
            </a:r>
            <a:r>
              <a:rPr dirty="0"/>
              <a:t> e </a:t>
            </a:r>
            <a:r>
              <a:rPr dirty="0" err="1"/>
              <a:t>operacional</a:t>
            </a:r>
            <a:endParaRPr lang="pt-BR" dirty="0"/>
          </a:p>
          <a:p>
            <a:pPr>
              <a:defRPr sz="2000"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Objetivo:</a:t>
            </a:r>
          </a:p>
          <a:p>
            <a:r>
              <a:rPr lang="pt-BR" b="1" dirty="0"/>
              <a:t>transformar manutenção reativa em operação previsível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Manutenção tratada como emergência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Dependência recorrente de taxas extras</a:t>
            </a:r>
          </a:p>
          <a:p>
            <a:pPr>
              <a:defRPr sz="2000"/>
            </a:pPr>
            <a:r>
              <a:t>• Perda de documentação e histórico técnico</a:t>
            </a:r>
          </a:p>
          <a:p>
            <a:pPr>
              <a:defRPr sz="2000"/>
            </a:pPr>
            <a:r>
              <a:t>• Baixa previsibilidade financeira</a:t>
            </a:r>
          </a:p>
          <a:p>
            <a:pPr>
              <a:defRPr sz="2000"/>
            </a:pPr>
            <a:r>
              <a:t>• Descontinuidade entre gestões condominiais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O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O edifício como sistema temporal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Cada ativo possui ciclo de vida próprio</a:t>
            </a:r>
          </a:p>
          <a:p>
            <a:pPr>
              <a:defRPr sz="2000"/>
            </a:pPr>
            <a:r>
              <a:t>• Manutenção pode ser prevista e planejada</a:t>
            </a:r>
          </a:p>
          <a:p>
            <a:pPr>
              <a:defRPr sz="2000"/>
            </a:pPr>
            <a:r>
              <a:t>• Custos futuros podem ser provisionados</a:t>
            </a:r>
          </a:p>
          <a:p>
            <a:pPr>
              <a:defRPr sz="2000"/>
            </a:pPr>
            <a:r>
              <a:t>• O histórico operacional possui valor estratégico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Núcleo do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Sistema operacional da manutenção predial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5335884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• O </a:t>
            </a:r>
            <a:r>
              <a:rPr dirty="0" err="1"/>
              <a:t>foco</a:t>
            </a:r>
            <a:r>
              <a:rPr dirty="0"/>
              <a:t> principal é </a:t>
            </a:r>
            <a:r>
              <a:rPr dirty="0" err="1"/>
              <a:t>operacional</a:t>
            </a:r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Financeiro</a:t>
            </a:r>
            <a:r>
              <a:rPr dirty="0"/>
              <a:t> atua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monetização</a:t>
            </a:r>
            <a:r>
              <a:rPr dirty="0"/>
              <a:t> </a:t>
            </a:r>
            <a:r>
              <a:rPr dirty="0" err="1"/>
              <a:t>adicional</a:t>
            </a:r>
            <a:endParaRPr dirty="0"/>
          </a:p>
          <a:p>
            <a:pPr>
              <a:defRPr sz="2000"/>
            </a:pPr>
            <a:r>
              <a:rPr dirty="0"/>
              <a:t>• A </a:t>
            </a:r>
            <a:r>
              <a:rPr dirty="0" err="1"/>
              <a:t>plataforma</a:t>
            </a:r>
            <a:r>
              <a:rPr dirty="0"/>
              <a:t> </a:t>
            </a:r>
            <a:r>
              <a:rPr dirty="0" err="1"/>
              <a:t>organiza</a:t>
            </a:r>
            <a:r>
              <a:rPr dirty="0"/>
              <a:t> o </a:t>
            </a:r>
            <a:r>
              <a:rPr dirty="0" err="1"/>
              <a:t>ciclo</a:t>
            </a:r>
            <a:r>
              <a:rPr dirty="0"/>
              <a:t> de </a:t>
            </a:r>
            <a:r>
              <a:rPr dirty="0" err="1"/>
              <a:t>vida</a:t>
            </a:r>
            <a:r>
              <a:rPr dirty="0"/>
              <a:t> do </a:t>
            </a:r>
            <a:r>
              <a:rPr dirty="0" err="1"/>
              <a:t>edifício</a:t>
            </a:r>
            <a:endParaRPr lang="pt-BR" dirty="0"/>
          </a:p>
          <a:p>
            <a:pPr>
              <a:defRPr sz="2000"/>
            </a:pPr>
            <a:r>
              <a:rPr lang="pt-BR" dirty="0"/>
              <a:t>• BIM funciona como camada complementar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Estrutura do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Camadas integradas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Operacional: manutenção e inspeções</a:t>
            </a:r>
          </a:p>
          <a:p>
            <a:pPr>
              <a:defRPr sz="2000"/>
            </a:pPr>
            <a:r>
              <a:t>• Temporal: ciclos e histórico</a:t>
            </a:r>
          </a:p>
          <a:p>
            <a:pPr>
              <a:defRPr sz="2000"/>
            </a:pPr>
            <a:r>
              <a:t>• Financeira: provisão e CAPEX</a:t>
            </a:r>
          </a:p>
          <a:p>
            <a:pPr>
              <a:defRPr sz="2000"/>
            </a:pPr>
            <a:r>
              <a:t>• Espacial: plantas, cortes e ativos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Base Normativa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Fluxo baseado em normas ABNT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NBR 5674 — manutenção predial</a:t>
            </a:r>
          </a:p>
          <a:p>
            <a:pPr>
              <a:defRPr sz="2000"/>
            </a:pPr>
            <a:r>
              <a:t>• NBR 15575 — vida útil e desempenho</a:t>
            </a:r>
          </a:p>
          <a:p>
            <a:pPr>
              <a:defRPr sz="2000"/>
            </a:pPr>
            <a:r>
              <a:t>• NBR 16747 — inspeção predial</a:t>
            </a:r>
          </a:p>
          <a:p>
            <a:pPr>
              <a:defRPr sz="2000"/>
            </a:pPr>
            <a:r>
              <a:t>• Normas transformadas em workflow operacional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Planejamento CAPEX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Previsão de manutenção futura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Fachadas, elevadores e impermeabilização</a:t>
            </a:r>
          </a:p>
          <a:p>
            <a:pPr>
              <a:defRPr sz="2000"/>
            </a:pPr>
            <a:r>
              <a:t>• Custos previstos ao longo do tempo</a:t>
            </a:r>
          </a:p>
          <a:p>
            <a:pPr>
              <a:defRPr sz="2000"/>
            </a:pPr>
            <a:r>
              <a:t>• Planejamento de fundos de manutenção</a:t>
            </a:r>
          </a:p>
          <a:p>
            <a:pPr>
              <a:defRPr sz="2000"/>
            </a:pPr>
            <a:r>
              <a:t>• Redução da necessidade de taxas extras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Ecossistema de prestadores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Catálogo técnico de fornecedores</a:t>
            </a:r>
          </a:p>
          <a:p>
            <a:pPr>
              <a:defRPr sz="2000"/>
            </a:pPr>
            <a:r>
              <a:t>• Histórico de desempenho</a:t>
            </a:r>
          </a:p>
          <a:p>
            <a:pPr>
              <a:defRPr sz="2000"/>
            </a:pPr>
            <a:r>
              <a:t>• Orçamentos e contratação</a:t>
            </a:r>
          </a:p>
          <a:p>
            <a:pPr>
              <a:defRPr sz="2000"/>
            </a:pPr>
            <a:r>
              <a:t>• Integração com manutenção e planejamento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Memória Histórica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O principal ativo estratégico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Registro contínuo das intervenções</a:t>
            </a:r>
          </a:p>
          <a:p>
            <a:pPr>
              <a:defRPr sz="2000"/>
            </a:pPr>
            <a:r>
              <a:t>• Histórico de fornecedores e custos</a:t>
            </a:r>
          </a:p>
          <a:p>
            <a:pPr>
              <a:defRPr sz="2000"/>
            </a:pPr>
            <a:r>
              <a:t>• Documentação centralizada</a:t>
            </a:r>
          </a:p>
          <a:p>
            <a:pPr>
              <a:defRPr sz="2000"/>
            </a:pPr>
            <a:r>
              <a:t>• Rastreabilidade operacional do edifício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Representação Espacial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Plantas, cortes e BIM operacional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Localização de sistemas e ativos</a:t>
            </a:r>
          </a:p>
          <a:p>
            <a:pPr>
              <a:defRPr sz="2000"/>
            </a:pPr>
            <a:r>
              <a:t>• Visualização operacional simplificada</a:t>
            </a:r>
          </a:p>
          <a:p>
            <a:pPr>
              <a:defRPr sz="2000"/>
            </a:pPr>
            <a:r>
              <a:t>• Interface de comunicação com condôminos</a:t>
            </a:r>
          </a:p>
          <a:p>
            <a:pPr>
              <a:defRPr sz="2000"/>
            </a:pPr>
            <a:r>
              <a:t>• Integração futura com BIM e gêmea digital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Modelo de Receita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Monetização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SaaS recorrente</a:t>
            </a:r>
          </a:p>
          <a:p>
            <a:pPr>
              <a:defRPr sz="2000"/>
            </a:pPr>
            <a:r>
              <a:t>• Implantação e modelagem</a:t>
            </a:r>
          </a:p>
          <a:p>
            <a:pPr>
              <a:defRPr sz="2000"/>
            </a:pPr>
            <a:r>
              <a:t>• Planejamento CAPEX</a:t>
            </a:r>
          </a:p>
          <a:p>
            <a:pPr>
              <a:defRPr sz="2000"/>
            </a:pPr>
            <a:r>
              <a:t>• Marketplace e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Integração operacional e temporal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Poucos sistemas unem manutenção e provisão</a:t>
            </a:r>
          </a:p>
          <a:p>
            <a:pPr>
              <a:defRPr sz="2000"/>
            </a:pPr>
            <a:r>
              <a:t>• Integração espacial e financeira</a:t>
            </a:r>
          </a:p>
          <a:p>
            <a:pPr>
              <a:defRPr sz="2000"/>
            </a:pPr>
            <a:r>
              <a:t>• Memória histórica estruturada</a:t>
            </a:r>
          </a:p>
          <a:p>
            <a:pPr>
              <a:defRPr sz="2000"/>
            </a:pPr>
            <a:r>
              <a:t>• Base para inteligência operacional futura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Estratégia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Fases de implantação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Fase 1: manutenção e histórico</a:t>
            </a:r>
          </a:p>
          <a:p>
            <a:pPr>
              <a:defRPr sz="2000"/>
            </a:pPr>
            <a:r>
              <a:t>• Fase 2: financeiro e marketplace</a:t>
            </a:r>
          </a:p>
          <a:p>
            <a:pPr>
              <a:defRPr sz="2000"/>
            </a:pPr>
            <a:r>
              <a:t>• Fase 3: BIM operacional e analytics</a:t>
            </a:r>
          </a:p>
          <a:p>
            <a:pPr>
              <a:defRPr sz="2000"/>
            </a:pPr>
            <a:r>
              <a:t>• Crescimento modular e escalável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Potencial Estratégico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Infraestrutura operacional do edifício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Aplicação em condomínios e facilities</a:t>
            </a:r>
          </a:p>
          <a:p>
            <a:pPr>
              <a:defRPr sz="2000"/>
            </a:pPr>
            <a:r>
              <a:t>• Base para benchmarking e analytics</a:t>
            </a:r>
          </a:p>
          <a:p>
            <a:pPr>
              <a:defRPr sz="2000"/>
            </a:pPr>
            <a:r>
              <a:t>• Dataset longitudinal do parque imobiliário</a:t>
            </a:r>
          </a:p>
          <a:p>
            <a:pPr>
              <a:defRPr sz="2000"/>
            </a:pPr>
            <a:r>
              <a:t>• Potencial de expansão nacional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Encerramento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64646"/>
                </a:solidFill>
              </a:rPr>
              <a:t>Do edifício reativo ao planejado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9601200" cy="45720"/>
          </a:xfrm>
          <a:prstGeom prst="rect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9144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Maior previsibilidade financeira</a:t>
            </a:r>
          </a:p>
          <a:p>
            <a:pPr>
              <a:defRPr sz="2000"/>
            </a:pPr>
            <a:r>
              <a:t>• Preservação patrimonial</a:t>
            </a:r>
          </a:p>
          <a:p>
            <a:pPr>
              <a:defRPr sz="2000"/>
            </a:pPr>
            <a:r>
              <a:t>• Menor dependência de emergências</a:t>
            </a:r>
          </a:p>
          <a:p>
            <a:pPr>
              <a:defRPr sz="2000"/>
            </a:pPr>
            <a:r>
              <a:t>• Operação predial baseada em dados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446</Words>
  <Application>Microsoft Office PowerPoint</Application>
  <PresentationFormat>Apresentação na tela (4:3)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lenz costa lima</cp:lastModifiedBy>
  <cp:revision>1</cp:revision>
  <dcterms:created xsi:type="dcterms:W3CDTF">2013-01-27T09:14:16Z</dcterms:created>
  <dcterms:modified xsi:type="dcterms:W3CDTF">2026-05-22T03:52:18Z</dcterms:modified>
  <cp:category/>
</cp:coreProperties>
</file>